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Fira Code"/>
      <ns0:bold ns1:id="rIdFont15"/>
      <ns0:regular ns1:id="rIdFont16"/>
    </ns0:embeddedFont>
    <ns0:embeddedFont>
      <ns0:font typeface="Inter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af6978f6-41c1-4774-8850-3aee555ddff8.fntdata" /><ns0:Relationship Id="rIdFont16" Type="http://schemas.openxmlformats.org/officeDocument/2006/relationships/font" Target="fonts/867a57ef-a51c-41c5-b03c-73a2989d82ca.fntdata" /><ns0:Relationship Id="rIdFont17" Type="http://schemas.openxmlformats.org/officeDocument/2006/relationships/font" Target="fonts/2bd8e9a9-578a-4663-bfa9-093f9bc8c98f.fntdata" /><ns0:Relationship Id="rIdFont18" Type="http://schemas.openxmlformats.org/officeDocument/2006/relationships/font" Target="fonts/47906c27-3030-4593-9844-e0116800f85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56813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2251769"/>
            <a:ext cx="3810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Inter"/>
              </a:rPr>
              <a:t>INTELLIGENT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5625" y="2756594"/>
            <a:ext cx="6000750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Inter"/>
              </a:rPr>
              <a:t>Assignment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2960" y="3739455"/>
            <a:ext cx="8626078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94A3B8"/>
                </a:solidFill>
                <a:latin typeface="Inter"/>
              </a:rPr>
              <a:t>Warehouse Delivery Robot Search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91300" y="2557462"/>
            <a:ext cx="4648200" cy="2667000"/>
          </a:xfrm>
          <a:prstGeom prst="roundRect">
            <a:avLst>
              <a:gd name="adj" fmla="val 4285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19370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97475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75580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056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009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962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5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21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774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727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68000" y="26717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056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009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962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15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21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774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727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68000" y="31670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056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009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962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915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21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774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727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68000" y="36623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056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009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962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915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821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774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1727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668000" y="41576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056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2009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962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915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868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1821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6774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1727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668000" y="4652962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Problem Environment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000" y="2559397"/>
            <a:ext cx="62865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Navigate robot from Start (S) to Goal (G).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125" y="319370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125" y="397475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~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125" y="475580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27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80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~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533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~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86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~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39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~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92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~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345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~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298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Fira Code"/>
              </a:rPr>
              <a:t>~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5125" y="2671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27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80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533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86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39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92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345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298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25125" y="3167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580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533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86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439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392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345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298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25125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627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580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533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86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439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92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345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298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Fira Code"/>
              </a:rPr>
              <a:t>#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25125" y="4157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627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580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533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86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39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92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345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298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25125" y="4652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47800" y="3184177"/>
            <a:ext cx="188773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Normal Floor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47800" y="3460402"/>
            <a:ext cx="1797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Cost: 1 per move.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47800" y="3965227"/>
            <a:ext cx="191273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Rough Floor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47800" y="4241452"/>
            <a:ext cx="1821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Cost: 3 per move.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47800" y="4746277"/>
            <a:ext cx="20502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Wall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47800" y="5022502"/>
            <a:ext cx="1952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Impassable barrier.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609600"/>
            <a:ext cx="12763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Implementation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1990725"/>
            <a:ext cx="9906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4950" y="16859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762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62450" y="16859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762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9950" y="16859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762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7450" y="16859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762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2075" y="168592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154" y="2524125"/>
            <a:ext cx="152519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Grid Parsing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312" y="2828925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Locate start and goal cells.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9575" y="168592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7093" y="2524125"/>
            <a:ext cx="2500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Neighbor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7562" y="2828925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Validate adjacent directional moves.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075" y="168592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9628" y="2524125"/>
            <a:ext cx="19502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Cost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5062" y="2828925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Assign uniform or heuristic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4575" y="168592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3341" y="2524125"/>
            <a:ext cx="253781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Path Reconstruction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562" y="2828925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Trace optimal route backward.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533525"/>
            <a:ext cx="5105400" cy="4714875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533525"/>
            <a:ext cx="5105400" cy="4714875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4600" y="6238875"/>
            <a:ext cx="5105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533525"/>
            <a:ext cx="51054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1533525"/>
            <a:ext cx="9525" cy="471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20475" y="1533525"/>
            <a:ext cx="9525" cy="471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2000250"/>
            <a:ext cx="417195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25" y="2047875"/>
            <a:ext cx="417195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285750" y="609600"/>
            <a:ext cx="12763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Search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2609850"/>
            <a:ext cx="5475684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Uniform Cost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725" y="3057525"/>
            <a:ext cx="5214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Uninformed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2657475"/>
            <a:ext cx="540067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A*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105150"/>
            <a:ext cx="5214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Informed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3590925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Evaluation: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Chooses lowest accumulated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8725" y="4200525"/>
            <a:ext cx="5214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Accuracy: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Always finds optimal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8725" y="4581525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Performance: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Expands many unnecessary nodes.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363855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Evaluation: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Combines current cost and heuristic.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25" y="4248150"/>
            <a:ext cx="5214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Accuracy: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Optimal path guaranteed.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462915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Performance: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Highly efficient node expansion.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04975" y="3183284"/>
            <a:ext cx="8782050" cy="1891605"/>
          </a:xfrm>
          <a:prstGeom prst="roundRect">
            <a:avLst>
              <a:gd name="adj" fmla="val 12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8656" y="1783109"/>
            <a:ext cx="3214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A* HEURISTIC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5625" y="2164109"/>
            <a:ext cx="600075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Manhattan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1125" y="3650009"/>
            <a:ext cx="9429750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0F172A"/>
                </a:solidFill>
                <a:latin typeface="Fira Code"/>
              </a:rPr>
              <a:t>h(n) = |r</a:t>
            </a:r>
            <a:r>
              <a:rPr b="0" sz="3000" i="0" u="none">
                <a:solidFill>
                  <a:srgbClr val="0F172A"/>
                </a:solidFill>
                <a:latin typeface="Fira Code"/>
              </a:rPr>
              <a:t>1</a:t>
            </a:r>
            <a:r>
              <a:rPr b="0" sz="3600" i="0" u="none">
                <a:solidFill>
                  <a:srgbClr val="0F172A"/>
                </a:solidFill>
                <a:latin typeface="Fira Code"/>
              </a:rPr>
              <a:t> - r</a:t>
            </a:r>
            <a:r>
              <a:rPr b="0" sz="3000" i="0" u="none">
                <a:solidFill>
                  <a:srgbClr val="0F172A"/>
                </a:solidFill>
                <a:latin typeface="Fira Code"/>
              </a:rPr>
              <a:t>2</a:t>
            </a:r>
            <a:r>
              <a:rPr b="0" sz="3600" i="0" u="none">
                <a:solidFill>
                  <a:srgbClr val="0F172A"/>
                </a:solidFill>
                <a:latin typeface="Fira Code"/>
              </a:rPr>
              <a:t>| + |c</a:t>
            </a:r>
            <a:r>
              <a:rPr b="0" sz="3000" i="0" u="none">
                <a:solidFill>
                  <a:srgbClr val="0F172A"/>
                </a:solidFill>
                <a:latin typeface="Fira Code"/>
              </a:rPr>
              <a:t>1</a:t>
            </a:r>
            <a:r>
              <a:rPr b="0" sz="3600" i="0" u="none">
                <a:solidFill>
                  <a:srgbClr val="0F172A"/>
                </a:solidFill>
                <a:latin typeface="Fira Code"/>
              </a:rPr>
              <a:t> - c</a:t>
            </a:r>
            <a:r>
              <a:rPr b="0" sz="3000" i="0" u="none">
                <a:solidFill>
                  <a:srgbClr val="0F172A"/>
                </a:solidFill>
                <a:latin typeface="Fira Code"/>
              </a:rPr>
              <a:t>2</a:t>
            </a:r>
            <a:r>
              <a:rPr b="0" sz="3600" i="0" u="none">
                <a:solidFill>
                  <a:srgbClr val="0F172A"/>
                </a:solidFill>
                <a:latin typeface="Fira Code"/>
              </a:rP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1125" y="4331940"/>
            <a:ext cx="9429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Ideal grid estimate without diagonal movement.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57325"/>
            <a:ext cx="3352800" cy="4791075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1457325"/>
            <a:ext cx="3352800" cy="4791075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457325"/>
            <a:ext cx="3352800" cy="4791075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325" y="4257972"/>
            <a:ext cx="2724150" cy="1676102"/>
          </a:xfrm>
          <a:prstGeom prst="roundRect">
            <a:avLst>
              <a:gd name="adj" fmla="val 454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33925" y="4257972"/>
            <a:ext cx="2724150" cy="1676102"/>
          </a:xfrm>
          <a:prstGeom prst="roundRect">
            <a:avLst>
              <a:gd name="adj" fmla="val 454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91525" y="4257972"/>
            <a:ext cx="2724150" cy="1676102"/>
          </a:xfrm>
          <a:prstGeom prst="roundRect">
            <a:avLst>
              <a:gd name="adj" fmla="val 454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Test Cases (Maps)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1771650"/>
            <a:ext cx="357544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Map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2209800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Standard validation grid.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925" y="4486572"/>
            <a:ext cx="2362200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8FAFC"/>
                </a:solidFill>
                <a:latin typeface="Fira Code"/>
              </a:rPr>
              <a:t>S..#....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##.#.##.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....~~..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.####.#.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...~..#G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3925" y="1771650"/>
            <a:ext cx="357544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Map B (Trap)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3925" y="2209800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Shortest path is most expensive.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2525" y="4486572"/>
            <a:ext cx="2362200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8FAFC"/>
                </a:solidFill>
                <a:latin typeface="Fira Code"/>
              </a:rPr>
              <a:t>S~~~~~~~G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.#######.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.........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.#.#.#.#.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.........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1771650"/>
            <a:ext cx="357544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F4444"/>
                </a:solidFill>
                <a:latin typeface="Inter"/>
              </a:rPr>
              <a:t>Map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2209800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Completely blocked goal.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0125" y="4486572"/>
            <a:ext cx="2362200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8FAFC"/>
                </a:solidFill>
                <a:latin typeface="Fira Code"/>
              </a:rPr>
              <a:t>S..#....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.#.#.##.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...#..#.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.###.##.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....#..G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2368004"/>
            <a:ext cx="5562600" cy="3045916"/>
          </a:xfrm>
          <a:prstGeom prst="roundRect">
            <a:avLst>
              <a:gd name="adj" fmla="val 750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471737"/>
            <a:ext cx="46482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119562"/>
            <a:ext cx="46482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471737"/>
            <a:ext cx="57150" cy="14192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119562"/>
            <a:ext cx="57150" cy="11906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Performance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8606" y="2825204"/>
            <a:ext cx="1500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THE WINNER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757" y="3206204"/>
            <a:ext cx="308788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38BDF8"/>
                </a:solidFill>
                <a:latin typeface="Inter"/>
              </a:rPr>
              <a:t>A*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3575" y="3996779"/>
            <a:ext cx="58102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8FAFC"/>
                </a:solidFill>
                <a:latin typeface="Inter"/>
              </a:rPr>
              <a:t>Maintained perfect optimal paths while expanding drastically fewer nodes than UCS.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2776537"/>
            <a:ext cx="522565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Map B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128962"/>
            <a:ext cx="4076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Both algorithms successfully bypassed the high-cost trap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424362"/>
            <a:ext cx="522565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Map C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4776787"/>
            <a:ext cx="4976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Both correctly reported "No Path Found".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2319337"/>
            <a:ext cx="95250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83060" y="3462337"/>
            <a:ext cx="7025878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Inter"/>
              </a:rPr>
              <a:t>End of Assignment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0578" y="4262437"/>
            <a:ext cx="67508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Warehouse Delivery Robot Search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